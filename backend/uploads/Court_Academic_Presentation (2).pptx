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4114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COURT MANAGEMENT SYSTEM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200400" y="2651760"/>
            <a:ext cx="2743200" cy="457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9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Computer Science Project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3337560"/>
            <a:ext cx="6400800" cy="1508760"/>
          </a:xfrm>
          <a:prstGeom prst="rect">
            <a:avLst/>
          </a:prstGeom>
          <a:solidFill>
            <a:srgbClr val="1B3A6B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4480" y="3429000"/>
            <a:ext cx="6035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Tesfaye Famous &amp; Team  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Advisor:  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Academic Supervisor  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Science, Salale University  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2024/2025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0058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92224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9222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17922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78608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786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5786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&amp; Scope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64992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6499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33649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Technologies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151376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51376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5137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41513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005840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058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85232" y="10058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 &amp; AI Integration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792224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792224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79222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17922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2578608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578608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5786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85232" y="25786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Results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3364992"/>
            <a:ext cx="41148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364992"/>
            <a:ext cx="475488" cy="658368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6499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85232" y="33649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of the Study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— 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28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0584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960120"/>
            <a:ext cx="6492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systems manage critical legal processes for citizens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Shewa Zone High Court serves thousands of cases annually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paper-based records create serious inefficiencies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 is urgently needed in the Ethiopian judiciary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addresses that gap with a full web-based solution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256032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8587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1,200+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02920" y="4315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Cases/Year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37560" y="3840480"/>
            <a:ext cx="256032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8587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383280" y="4315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3840480"/>
            <a:ext cx="256032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38587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263640" y="43159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Today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— 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527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1033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Paper-Based Records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13990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lost, damaged, or misfiled — no searchability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60120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5272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6672" y="1033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Scheduling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76672" y="13990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conflicts cause hearing delays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240280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3288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" y="2313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Control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96112" y="267919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staff member can view all case files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75488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240280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3288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76672" y="2313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Case Retrieval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376672" y="267919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case history takes hours, not seconds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274320" y="3520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520440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13048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96112" y="3593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Financial Tracking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896112" y="39593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fees not systematically recorded or reported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754880" y="3520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3520440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13048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76672" y="3593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Intelligence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5376672" y="39593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 to assist in document analysis or review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868680"/>
            <a:ext cx="36576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manual case registration and tracking increases errors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appointment system leads to scheduling conflicts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Role-Based Access Control exposes sensitive legal 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invoice/payment system causes financial mismanagement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document review is time-consuming and error-prone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251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have no digital channel for court procedure guidance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28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6217920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058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design and develop a secure, web-based Court Management System for the North Shewa Zone High Court that digitizes case registration, scheduling, document management, and financial processing — enhanced with AI-powered features.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65760" y="26060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Outcomes: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3017520"/>
            <a:ext cx="6217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Digitize all court records and operations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paper-based inefficiencies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secure, role-based access for 5 user types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AI-powered document analysis and chatbot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28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332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960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case registration and management module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1472184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527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 appointment scheduling system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65760" y="2039112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6712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09397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financial management module (invoices &amp; payments)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365760" y="2606040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3405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26609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Role-Based Access Control (RBAC) with 5 distinct roles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365760" y="3172968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0098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32278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Gemini-powered AI document analyzer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365760" y="3739896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867912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" y="37947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multilingual RAG chatbot (English, Amharic, Afaan Oromoo)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365760" y="4306824"/>
            <a:ext cx="83210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434840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comprehensive audit logging mechanism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3657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012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362456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Register, assign, track, and close court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60120"/>
            <a:ext cx="4206240" cy="3657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96012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Scheduling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362456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Book, reschedule, and notify all parties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20624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58568"/>
            <a:ext cx="4206240" cy="3657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5856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2660904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for 5 roles: Admin, Registrar, Judge, Manager, Clerk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258568"/>
            <a:ext cx="420624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258568"/>
            <a:ext cx="4206240" cy="3657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25856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660904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invoices, record payments, produce reports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557016"/>
            <a:ext cx="420624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57016"/>
            <a:ext cx="4206240" cy="3657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55701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Document Analyzer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959352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legal entities from uploaded PDFs/DOCX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557016"/>
            <a:ext cx="420624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557016"/>
            <a:ext cx="4206240" cy="3657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55701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3959352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 RAG-based procedural guidance assistant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Significance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4069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North Shewa Zone High Court only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results are advisory — not legally binding decisions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stable internet connection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SMS/email notifications not yet implemented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not included in current scope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Significance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manual paper-based case management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transparency and judicial accountability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Speeds up case processing and scheduling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Enhances data security with role-based access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Pioneering AI use in Ethiopian court systems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Methodology — Agile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4630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1783080"/>
            <a:ext cx="22860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188720"/>
            <a:ext cx="1463040" cy="118872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18872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1783080"/>
            <a:ext cx="22860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188720"/>
            <a:ext cx="1463040" cy="1188720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18872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1783080"/>
            <a:ext cx="22860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188720"/>
            <a:ext cx="1463040" cy="118872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18872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783080"/>
            <a:ext cx="22860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188720"/>
            <a:ext cx="146304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8872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Agile Development with continuous feedback loops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201168" cy="347472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Gathering: 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3017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Interviews, observation, and document analysis at North Shewa Zone High Court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201168" cy="347472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Architecture: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35204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diagrams: Use Case, Class, Sequence, ER, Deployment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201168" cy="347472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4023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frontend + Node.js backend + MySQL database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526280"/>
            <a:ext cx="201168" cy="347472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926080" y="4526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Integration, System, and User Acceptance Testing (UAT)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93192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5120640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React.js 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Component-based UI with hooks and context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+ Express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RESTful API with JWT authentication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8.0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data storage — ACID compliant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Gateway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Gemini 3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analysis and chatbot responses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(Supabase)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COURT_RULES, CHAT_SESSIONS, AUDIT_LOG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bcrypt + JWT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 hashing and stateless authentication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Edraw Max / Draw.io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UML and ER diagram design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Tools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Code + Postman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and API testing environment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256032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011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18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560320" cy="2560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2011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2560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97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2011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0116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+ 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3512" y="2057400"/>
            <a:ext cx="411480" cy="41148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05740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5760" y="3703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HTTP/REST API  →      ← SQL Queries →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2E5B8A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Layer:  Google Gemini 3 Flash (via Lovable Gateway)  |  Document Analyzer  |  RAG Chatbot  |  Audit Logging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1737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515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18928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Register, assign &amp; track all court cases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82112" y="960120"/>
            <a:ext cx="2697480" cy="17373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097280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9352" y="10515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91840" y="18928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hearings &amp; send notifications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9904" y="960120"/>
            <a:ext cx="2697480" cy="1737360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097280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67144" y="10515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99632" y="18928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roles with defined permissions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4320" y="2926080"/>
            <a:ext cx="2697480" cy="1737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530352" cy="5303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0175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84048" y="385876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payments &amp; reports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182112" y="2926080"/>
            <a:ext cx="2697480" cy="17373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063240"/>
            <a:ext cx="530352" cy="5303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59352" y="30175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Document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291840" y="385876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legal info from uploaded docs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089904" y="2926080"/>
            <a:ext cx="2697480" cy="17373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063240"/>
            <a:ext cx="530352" cy="5303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67144" y="30175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199632" y="385876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procedural guidance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00584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60120"/>
            <a:ext cx="155448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9601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01952" y="1033272"/>
            <a:ext cx="5303520" cy="530352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93392" y="103327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access — manage users, config, audit logs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1764792"/>
            <a:ext cx="155448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76479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01952" y="1837944"/>
            <a:ext cx="5303520" cy="530352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93392" y="1837944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cases, manage petitioners/respondents, appointments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" y="2569464"/>
            <a:ext cx="1554480" cy="68580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2569464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901952" y="2642616"/>
            <a:ext cx="5303520" cy="530352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93392" y="2642616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assigned cases, upload documents, use AI analyzer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74320" y="3374136"/>
            <a:ext cx="1554480" cy="685800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374136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901952" y="3447288"/>
            <a:ext cx="5303520" cy="530352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93392" y="3447288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 reporting, financial summaries, team management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74320" y="4178808"/>
            <a:ext cx="1554480" cy="68580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17880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901952" y="4251960"/>
            <a:ext cx="5303520" cy="530352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93392" y="425196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invoices, record payments, financial operations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7432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passwords hashed with bcrypt  •  JWT token authentication  •  HTTPS/TLS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3886200"/>
          </a:xfrm>
          <a:prstGeom prst="rect">
            <a:avLst/>
          </a:prstGeom>
          <a:solidFill>
            <a:srgbClr val="1B3A6B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Analyzer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087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3172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Upload PDF/DOCX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Extract text (client-side)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Send to Gemini API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Receive analysis JSON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Display with legal citations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160520" cy="3886200"/>
          </a:xfrm>
          <a:prstGeom prst="rect">
            <a:avLst/>
          </a:prstGeom>
          <a:solidFill>
            <a:srgbClr val="1B3A6B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9601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Chatbot Assistant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0876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2331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submits query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RAG: search COURT_RULES DB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Augment Gemini prompt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Stream response via SSE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Reply in English / Amharic / Afaan Oromoo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IMPORTANT:  AI is a decision-support tool only.  All judicial decisions remain the sole responsibility of the judge.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— Key Entities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0584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987552"/>
            <a:ext cx="411480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987552"/>
            <a:ext cx="4114800" cy="365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3898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user_ID, firstName, lastName, email, password (bcrypt), role, isActive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987552"/>
            <a:ext cx="4114800" cy="118872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987552"/>
            <a:ext cx="4114800" cy="365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987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13898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case_ID, case_number, case_type, status, judge_id, filing_date, description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340864"/>
            <a:ext cx="411480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2340864"/>
            <a:ext cx="4114800" cy="365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2743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appointment_ID, case_ID, appoint_at, clientName, mobile VARCHAR(15), status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2340864"/>
            <a:ext cx="4114800" cy="118872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340864"/>
            <a:ext cx="4114800" cy="365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2340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2743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petitioner_ID, case_ID, advocate_id, first_name, phonenumber VARCHAR(15)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694176"/>
            <a:ext cx="411480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3694176"/>
            <a:ext cx="4114800" cy="365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6941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0965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invoice_ID, case_id, invoiceNumber, amount DECIMAL(10,2), status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3694176"/>
            <a:ext cx="4114800" cy="118872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3694176"/>
            <a:ext cx="4114800" cy="365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6941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DOCUMENT_ANALYSES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754880" y="40965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UUID, document_name, risk_level, compliance_status, legal_issues[], created_by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UI — Dashboard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4592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1645920" cy="420624"/>
          </a:xfrm>
          <a:prstGeom prst="rect">
            <a:avLst/>
          </a:prstGeom>
          <a:solidFill>
            <a:srgbClr val="2E5B8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0817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164592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836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164592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591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16352"/>
            <a:ext cx="164592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34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164592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3101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67328"/>
            <a:ext cx="164592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856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42816"/>
            <a:ext cx="164592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2611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960120"/>
            <a:ext cx="6858000" cy="384048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97840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Shewa Zone High Court — Court Management System                  Judge Alemu 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1444752"/>
            <a:ext cx="16002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14813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011680" y="19202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Cases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1444752"/>
            <a:ext cx="1600200" cy="91440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4813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749040" y="19202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Hearings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1444752"/>
            <a:ext cx="1600200" cy="914400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4813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86400" y="19202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Invoices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1444752"/>
            <a:ext cx="1600200" cy="9144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14813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223760" y="19202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Cases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2834640"/>
          <a:ext cx="411480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1887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CMS-2025-001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Criminal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CMS-2025-002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CMS-2025-003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Appeal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2011680" y="48463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Responsive, clean UI — React.js 18 with role-specific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50876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60120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10058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individual functions: login, case registration, invoice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1005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594360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27632"/>
            <a:ext cx="1508760" cy="5943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627632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16733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module interactions: Case → Appointment → Invoice → Decision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16733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2295144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95144"/>
            <a:ext cx="1508760" cy="594360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295144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23408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workflow: full case lifecycle from registration to verdict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23408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8595360" cy="594360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62656"/>
            <a:ext cx="150876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962656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Module Testing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74520" y="300837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test cases: valid doc upload, Amharic query, SQL injection attempt, session limit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30083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3630168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630168"/>
            <a:ext cx="1508760" cy="5943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630168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74520" y="36758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enforcement, JWT token expiry, bcrypt verification, XSS input handling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0" y="3675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F0F4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297680"/>
            <a:ext cx="1508760" cy="594360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297680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Acceptance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74520" y="43434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Conducted with court staff at North Shewa Zone High Court — positive feedback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4343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82296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injected into wrong XML sections during document building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82296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058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12801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TOC-boundary detection to ensure insertions only occur in document body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389888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93392"/>
            <a:ext cx="4114800" cy="82296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933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2677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number stored as INT — leading zeros and + prefix lost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993392"/>
            <a:ext cx="4206240" cy="82296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9933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26771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all phone fields to VARCHAR(15) across all data dictionaries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2377440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80944"/>
            <a:ext cx="4114800" cy="82296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809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25526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chatbot hallucinating general legal advice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980944"/>
            <a:ext cx="4206240" cy="82296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9809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255264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system prompt guardrails + RAG grounding in COURT_RULES database 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3364992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68496"/>
            <a:ext cx="4114800" cy="82296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96849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24281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via ILIKE wildcard queries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968496"/>
            <a:ext cx="4206240" cy="822960"/>
          </a:xfrm>
          <a:prstGeom prst="rect">
            <a:avLst/>
          </a:prstGeom>
          <a:solidFill>
            <a:srgbClr val="F0FD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96849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24281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%, _, \ characters in all user inputs before DB queries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34840" y="4352544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Project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4592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case records — no paper files needed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51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03504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user roles with enforced access control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114800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774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645920" y="24231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test cases — all passed including Amharic queries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4114800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3774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35040" y="24231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supported in AI chatbot (en/am/or)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4114800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03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645920" y="3749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document analysis response time target met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4114800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703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035040" y="3749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critical security vulnerabilities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784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digitized the North Shewa Zone High Court case management system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763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secure RBAC for 5 user roles with JWT and bcrypt authentication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9424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2219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AI-powered document analyzer using Google Gemini 3 Flash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71216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8437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trilingual RAG chatbot grounded in actual court rules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93008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46557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all UML diagrams, ER diagrams, and documentation to IEEE standard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4800"/>
            <a:ext cx="347472" cy="34747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40873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AI test cases and core system test cases passed successfully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&amp; Enhancements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737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2471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Application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app for judges and registrars to access the system on the go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60520" cy="1737360"/>
          </a:xfrm>
          <a:prstGeom prst="rect">
            <a:avLst/>
          </a:prstGeom>
          <a:solidFill>
            <a:srgbClr val="2E5B8A"/>
          </a:solidFill>
          <a:ln w="12700">
            <a:solidFill>
              <a:srgbClr val="2E5B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12471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AI Features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187452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prediction analytics, auto-summarization, and precedent search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" y="2926080"/>
            <a:ext cx="4160520" cy="1737360"/>
          </a:xfrm>
          <a:prstGeom prst="rect">
            <a:avLst/>
          </a:prstGeom>
          <a:solidFill>
            <a:srgbClr val="4A9FDB"/>
          </a:solidFill>
          <a:ln w="12700">
            <a:solidFill>
              <a:srgbClr val="4A9FD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0906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Multi-Court Scalability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" y="38404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all courts in the Oromia Region with centralized data architecture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754880" y="2926080"/>
            <a:ext cx="4160520" cy="1737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0906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/ Email Notifications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937760" y="38404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hearing reminders sent to all parties via Twilio or SendGrid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2743200" y="2633472"/>
            <a:ext cx="3657600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9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Court Management System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4A9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Shewa Zone High Court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286000" y="361188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371600" y="4206240"/>
            <a:ext cx="64008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2E5B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3040" y="42519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Salale University  •  Department of Computer Science  •  2024/2025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Web-Based Court Management System - Academic</dc:title>
  <dc:subject>PptxGenJS Presentation</dc:subject>
  <dc:creator>PptxGenJS</dc:creator>
  <cp:lastModifiedBy>PptxGenJS</cp:lastModifiedBy>
  <cp:revision>1</cp:revision>
  <dcterms:created xsi:type="dcterms:W3CDTF">2026-04-25T03:43:23Z</dcterms:created>
  <dcterms:modified xsi:type="dcterms:W3CDTF">2026-04-25T03:43:23Z</dcterms:modified>
</cp:coreProperties>
</file>